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No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Noto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NotoSans-bold.fntdata"/><Relationship Id="rId6" Type="http://schemas.openxmlformats.org/officeDocument/2006/relationships/slide" Target="slides/slide2.xml"/><Relationship Id="rId18" Type="http://schemas.openxmlformats.org/officeDocument/2006/relationships/font" Target="fonts/Noto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4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9.png"/><Relationship Id="rId5" Type="http://schemas.openxmlformats.org/officeDocument/2006/relationships/image" Target="../media/image27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43.png"/><Relationship Id="rId10" Type="http://schemas.openxmlformats.org/officeDocument/2006/relationships/image" Target="../media/image34.png"/><Relationship Id="rId9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90250" y="1854050"/>
            <a:ext cx="7963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Formação, Emprego e RendA</a:t>
            </a:r>
            <a:endParaRPr b="1"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"/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34000" y="2157700"/>
            <a:ext cx="7472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Um Investimento Estratégico no Litoral Sul de São Paulo</a:t>
            </a:r>
            <a:endParaRPr b="1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38950" y="2384523"/>
            <a:ext cx="7924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Noto Sans"/>
              <a:buNone/>
            </a:pPr>
            <a:r>
              <a:rPr b="0" i="1" lang="en-US" sz="1350" u="none" cap="none" strike="noStrike">
                <a:solidFill>
                  <a:schemeClr val="lt2"/>
                </a:solidFill>
                <a:highlight>
                  <a:schemeClr val="dk2"/>
                </a:highlight>
                <a:latin typeface="Noto Sans"/>
                <a:ea typeface="Noto Sans"/>
                <a:cs typeface="Noto Sans"/>
                <a:sym typeface="Noto Sans"/>
              </a:rPr>
              <a:t>"Capacitação profissional e educação financeira como pilares do desenvolvimento econômico e social"</a:t>
            </a:r>
            <a:endParaRPr b="0" i="0" sz="1350" u="none" cap="none" strike="noStrike">
              <a:solidFill>
                <a:schemeClr val="lt2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O Desafio e a Oportunidade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6618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42925" y="826889"/>
            <a:ext cx="1011929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O Desafio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85750" y="1221581"/>
            <a:ext cx="4200525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85750" y="1221581"/>
            <a:ext cx="28575" cy="342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92906" y="1294805"/>
            <a:ext cx="274434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Taxa de desemprego no litoral sul de SP: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137250" y="1294805"/>
            <a:ext cx="41464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14,2%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85750" y="1635919"/>
            <a:ext cx="4200525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285750" y="1635919"/>
            <a:ext cx="28575" cy="342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92906" y="1709142"/>
            <a:ext cx="248390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Jovens sem qualificação profissional: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876810" y="1709142"/>
            <a:ext cx="292196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37%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85750" y="2064544"/>
            <a:ext cx="4200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 falta de capacitação profissional limita o desenvolvimento econômico da região.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2630686"/>
            <a:ext cx="150019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492919" y="2591395"/>
            <a:ext cx="1645407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A Oportunidade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85750" y="2986088"/>
            <a:ext cx="4200525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85750" y="2986088"/>
            <a:ext cx="28575" cy="342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92906" y="3059311"/>
            <a:ext cx="2526599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Potencial de crescimento econômico: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919506" y="3059311"/>
            <a:ext cx="41464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+8,5%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85750" y="3400425"/>
            <a:ext cx="4200525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85750" y="3400425"/>
            <a:ext cx="28575" cy="3429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92906" y="3473648"/>
            <a:ext cx="1852519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Novas empresas na região: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245426" y="3473648"/>
            <a:ext cx="373931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+23%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619356" y="3473648"/>
            <a:ext cx="806546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desde 2023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85750" y="3829050"/>
            <a:ext cx="4200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Investir em capacitação pode transformar desafios em oportunidades.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64553" y="814388"/>
            <a:ext cx="2986869" cy="2285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7725" y="3266452"/>
            <a:ext cx="150019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4864894" y="3227161"/>
            <a:ext cx="1235562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Região-Alvo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29175" y="3621853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Municípios do litoral sul de São Paulo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829175" y="3821878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População estimada: 450.000 habitantes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829175" y="4021903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Economia baseada em turismo, pesca e serviços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9358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O Projeto: Capacitação de Excelência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66180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592931" y="826889"/>
            <a:ext cx="2516135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Componentes do Projeto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85750" y="1221581"/>
            <a:ext cx="4200525" cy="85010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85750" y="1221581"/>
            <a:ext cx="28575" cy="85010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92906" y="1328738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Cursos Profissionalizantes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92906" y="1564481"/>
            <a:ext cx="3986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Tecnologia, serviços e empreendedorismo, alinhados às demandas do mercado local.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85750" y="2178844"/>
            <a:ext cx="4200525" cy="85010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85750" y="2178844"/>
            <a:ext cx="28575" cy="85010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92906" y="2286000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Educação Financeira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92906" y="2521744"/>
            <a:ext cx="3986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Módulos práticos sobre orçamento, investimentos e planejamento financeiro.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85750" y="3136106"/>
            <a:ext cx="4200525" cy="85010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85750" y="3136106"/>
            <a:ext cx="28575" cy="85010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92906" y="3243263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Mentoria e Networking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92906" y="3479006"/>
            <a:ext cx="3986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Acompanhamento personalizado e conexão com empresas locais.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4152305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592931" y="4113014"/>
            <a:ext cx="1238157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Diferenciais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509492"/>
            <a:ext cx="1656206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Corpo Docente de Elite: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4509492"/>
            <a:ext cx="3258136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Profissionais com vasta experiência no mercado.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4909542"/>
            <a:ext cx="1482049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Metodologia Prática: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939249" y="4909542"/>
            <a:ext cx="24645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Foco em resultados e aplicabilidade.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5109567"/>
            <a:ext cx="1774803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Conexão com o Mercado: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5109567"/>
            <a:ext cx="3602180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Parcerias estratégicas com empresas locais.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4968" y="814388"/>
            <a:ext cx="3766040" cy="2285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7725" y="435233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4914900" y="4313039"/>
            <a:ext cx="2217297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Resultados Esperados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829175" y="4707731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Capacitação de 100 participantes no primeiro ano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829175" y="4907756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Taxa de empregabilidade de 70% após conclusão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829175" y="5107781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Aumento médio de 30% na renda dos participantes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829175" y="5307806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Melhoria significativa na gestão financeira pessoal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9350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Gestão Baseada no PMBOK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66180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517922" y="826889"/>
            <a:ext cx="1734843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PMBOK 7ª Edição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85750" y="1221581"/>
            <a:ext cx="4200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O gerenciamento do projeto será baseado nas melhores práticas do PMBOK 7ª Edição, com foco em: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85750" y="1735931"/>
            <a:ext cx="4200525" cy="54292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285750" y="1735931"/>
            <a:ext cx="28575" cy="542925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92906" y="1809155"/>
            <a:ext cx="1222167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Entrega de Valor: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615074" y="1809155"/>
            <a:ext cx="2527743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Foco nos benefícios tangíveis para os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92906" y="2009180"/>
            <a:ext cx="1909530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participantes e comunidade.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85750" y="2350294"/>
            <a:ext cx="4200525" cy="54292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85750" y="2350294"/>
            <a:ext cx="28575" cy="542925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92906" y="2423517"/>
            <a:ext cx="1127596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Adaptabilidade: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520503" y="2423517"/>
            <a:ext cx="2548756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Flexibilidade para ajustar o projeto às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92906" y="2623542"/>
            <a:ext cx="1781808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necessidades emergentes.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85750" y="2964656"/>
            <a:ext cx="4200525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285750" y="2964656"/>
            <a:ext cx="28575" cy="3429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92906" y="3037880"/>
            <a:ext cx="74183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Liderança: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34740" y="3037880"/>
            <a:ext cx="30248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Gestão proativa e orientada para resultados.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3473648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542925" y="3434358"/>
            <a:ext cx="2595135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Benefícios da Abordagem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3829050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Maior transparência na gestão dos recursos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4029075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Monitoramento contínuo de resultados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4229100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Mitigação eficaz de riscos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4429125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Maximização do impacto social do investimento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2019" y="814388"/>
            <a:ext cx="4071938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1167" y="3752255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6028348" y="3712964"/>
            <a:ext cx="1766432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Aplicação Prática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657725" y="4107656"/>
            <a:ext cx="42005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Os 8 domínios de performance do PMBOK serão aplicados para garantir a eficiência e eficácia do projeto, com ênfase especial na entrega de valor e no engajamento das partes interessadas.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50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Educação Financeira: Pilar da Autonomia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66180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567928" y="826889"/>
            <a:ext cx="3292822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Módulos de Educação Financeira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285750" y="1221581"/>
            <a:ext cx="4200525" cy="5786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285750" y="1221581"/>
            <a:ext cx="28575" cy="5786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92906" y="1293019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Orçamento Pessoal e Familiar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92906" y="1528763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Ferramentas práticas para controle de receitas e despesas.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85750" y="1871663"/>
            <a:ext cx="4200525" cy="5786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85750" y="1871663"/>
            <a:ext cx="28575" cy="5786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92906" y="1943100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Planejamento Financeiro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92906" y="2178844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Definição de metas e estratégias para alcançá-las.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85750" y="2521744"/>
            <a:ext cx="4200525" cy="5786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85750" y="2521744"/>
            <a:ext cx="28575" cy="5786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92906" y="2593181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Consumo Consciente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92906" y="2828925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Decisões de compra inteligentes e sustentáveis.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85750" y="3171825"/>
            <a:ext cx="4200525" cy="5786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85750" y="3171825"/>
            <a:ext cx="28575" cy="5786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92906" y="3243263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Introdução a Investimentos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92906" y="3479006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Conceitos básicos para multiplicar recursos.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785" y="3864769"/>
            <a:ext cx="3674427" cy="2000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7800" y="814388"/>
            <a:ext cx="30003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7725" y="4509464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4939903" y="4470174"/>
            <a:ext cx="3468458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Benefícios da Educação Financeira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29175" y="4864866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Redução do endividamento pessoal e familiar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829175" y="5064891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Aumento da capacidade de poupança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829175" y="5264916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Melhoria na qualidade de vida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29175" y="5464941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Complemento essencial à capacitação profissional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29175" y="5664966"/>
            <a:ext cx="402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Autonomia para tomada de decisões financeiras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64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Impacto Social Transformador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6618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542925" y="826889"/>
            <a:ext cx="2104476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Métricas de Impacto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85750" y="1221581"/>
            <a:ext cx="4200525" cy="60721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85750" y="1221581"/>
            <a:ext cx="28575" cy="60721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92906" y="1307306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Beneficiários Diretos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92906" y="1543050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100 participantes capacitados no primeiro ano do projeto.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85750" y="1914525"/>
            <a:ext cx="4200525" cy="8072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285750" y="1914525"/>
            <a:ext cx="28575" cy="8072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92906" y="2000250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Empregabilidade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92906" y="2235994"/>
            <a:ext cx="3986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Meta de 70% dos participantes empregados ou empreendendo após o treinamento.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85750" y="2807494"/>
            <a:ext cx="4200525" cy="8072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285750" y="2807494"/>
            <a:ext cx="28575" cy="8072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392906" y="2893219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Aumento de Renda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92906" y="3128963"/>
            <a:ext cx="3986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Expectativa de incremento médio de 30% na renda dos participantes.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85750" y="3700463"/>
            <a:ext cx="4200525" cy="60721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85750" y="3700463"/>
            <a:ext cx="28575" cy="60721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92906" y="3786188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Beneficiários Indiretos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92906" y="4021931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Estimativa de 400 familiares beneficiados indiretamente.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3966" y="814388"/>
            <a:ext cx="2648015" cy="2285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7725" y="3323602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4964906" y="3284311"/>
            <a:ext cx="2856774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Transformação Comunitária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829175" y="3680789"/>
            <a:ext cx="1873532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Redução da Desigualdade: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829175" y="3680789"/>
            <a:ext cx="3815209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Oportunidades para os mais vulneráveis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829175" y="4080839"/>
            <a:ext cx="1697087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Desenvolvimento Local: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829175" y="4080839"/>
            <a:ext cx="3857374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Fortalecimento da economia da região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829175" y="4480889"/>
            <a:ext cx="1161445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Cidadania Ativa: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990620" y="4480889"/>
            <a:ext cx="2724783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Formação de cidadãos mais conscientes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829175" y="4680914"/>
            <a:ext cx="1369758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Legado Duradouro: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829175" y="4680914"/>
            <a:ext cx="3723624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Impacto que se estende às futuras gerações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6495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Visibilidade e Projeção Política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6618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542925" y="826889"/>
            <a:ext cx="3056995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Oportunidades de Visibilidade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85750" y="1221581"/>
            <a:ext cx="4200525" cy="8072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85750" y="1221581"/>
            <a:ext cx="28575" cy="807244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92906" y="1307306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Eventos de Grande Porte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92906" y="1543050"/>
            <a:ext cx="3986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Cerimônias de lançamento e conclusão com presença de autoridades e imprensa.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85750" y="2114550"/>
            <a:ext cx="4200525" cy="60721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285750" y="2114550"/>
            <a:ext cx="28575" cy="607219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92906" y="2200275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Cobertura de Mídia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92906" y="2436019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Divulgação em veículos de comunicação locais e regionais.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85750" y="2807494"/>
            <a:ext cx="4200525" cy="8072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85750" y="2807494"/>
            <a:ext cx="28575" cy="807244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392906" y="2893219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Material Promocional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92906" y="3128963"/>
            <a:ext cx="3986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Logotipos e menções em todo material didático e certificados.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85750" y="3700463"/>
            <a:ext cx="4200525" cy="60721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285750" y="3700463"/>
            <a:ext cx="28575" cy="607219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92906" y="3786188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Presença Digital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92906" y="4021931"/>
            <a:ext cx="39862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Destaque nas redes sociais e site do projeto.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2223" y="814388"/>
            <a:ext cx="3131502" cy="2285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7725" y="332360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4914900" y="3284311"/>
            <a:ext cx="1977061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Benefícios Políticos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829175" y="3680789"/>
            <a:ext cx="2173012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Reconhecimento Comunitário: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829175" y="3680789"/>
            <a:ext cx="3610496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Associação com uma iniciativa de alto impacto social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829175" y="4080839"/>
            <a:ext cx="1983256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Fortalecimento da Imagem: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829175" y="4080839"/>
            <a:ext cx="3210697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Demonstração de compromisso com o desenvolvimento regional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829175" y="4480889"/>
            <a:ext cx="1131447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Legado Político: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829175" y="4480889"/>
            <a:ext cx="3804493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Projeto que será lembrado e valorizado por muitos anos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829175" y="4880939"/>
            <a:ext cx="20391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Ampliação da Base de Apoio: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829175" y="4880939"/>
            <a:ext cx="3417308" cy="39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Conexão direta com beneficiários e suas famílias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Investimento e Retorno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6618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542925" y="826889"/>
            <a:ext cx="1813034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Orçamento Anual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3" y="1328738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285750" y="3829050"/>
            <a:ext cx="4200525" cy="24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Investimento Total: R$ 513.100,00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285750" y="4176220"/>
            <a:ext cx="4200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Custo por beneficiário direto: R$ 5.131,00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7725" y="866180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4939903" y="826889"/>
            <a:ext cx="2976572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Detalhamento do Orçamento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829175" y="1223367"/>
            <a:ext cx="140232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Recursos Humanos: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231499" y="1223367"/>
            <a:ext cx="1380334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R$ 348.000,00 (68%)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829175" y="1423392"/>
            <a:ext cx="1065423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Equipamentos: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894598" y="1423392"/>
            <a:ext cx="12986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R$ 71.500,00 (14%)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829175" y="1623417"/>
            <a:ext cx="1074158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Infraestrutura: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903333" y="1623417"/>
            <a:ext cx="1216893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R$ 36.000,00 (7%)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829175" y="1823442"/>
            <a:ext cx="1679367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Despesas Operacionais: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508542" y="1823442"/>
            <a:ext cx="12986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R$ 57.600,00 (11%)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7725" y="2363493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4914900" y="2324202"/>
            <a:ext cx="2558523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A5276"/>
                </a:solidFill>
                <a:latin typeface="Noto Sans"/>
                <a:ea typeface="Noto Sans"/>
                <a:cs typeface="Noto Sans"/>
                <a:sym typeface="Noto Sans"/>
              </a:rPr>
              <a:t> Retorno do Investimento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657725" y="2718895"/>
            <a:ext cx="4200525" cy="37147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657725" y="2718895"/>
            <a:ext cx="28575" cy="371475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764881" y="2806405"/>
            <a:ext cx="1068298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Retorno Social: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833179" y="2806405"/>
            <a:ext cx="2696487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Transformação de vidas e comunidades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657725" y="3176095"/>
            <a:ext cx="4200525" cy="571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657725" y="3176095"/>
            <a:ext cx="28575" cy="5715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764881" y="3263605"/>
            <a:ext cx="1424201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Retorno Econômico: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189083" y="3263605"/>
            <a:ext cx="1756386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Aumento da renda local e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764881" y="3463630"/>
            <a:ext cx="1741931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desenvolvimento regional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657725" y="3833320"/>
            <a:ext cx="4200525" cy="571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657725" y="3833320"/>
            <a:ext cx="28575" cy="5715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4764881" y="3920830"/>
            <a:ext cx="1187007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Retorno Político: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951888" y="3920830"/>
            <a:ext cx="2049698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Visibilidade e reconhecimento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764881" y="4120855"/>
            <a:ext cx="786119" cy="194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duradouros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80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8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1"/>
          <p:cNvSpPr/>
          <p:nvPr/>
        </p:nvSpPr>
        <p:spPr>
          <a:xfrm>
            <a:off x="1843869" y="428625"/>
            <a:ext cx="545623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Seja Parte Desta Transformação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28625" y="1157288"/>
            <a:ext cx="828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Noto Sans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Seu investimento não é apenas um recurso financeiro, é um compromisso com o futuro do litoral sul de São Paulo.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249793" y="1900238"/>
            <a:ext cx="6644385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5400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D35400"/>
                </a:solidFill>
                <a:latin typeface="Noto Sans"/>
                <a:ea typeface="Noto Sans"/>
                <a:cs typeface="Noto Sans"/>
                <a:sym typeface="Noto Sans"/>
              </a:rPr>
              <a:t> Invista no futuro. Invista no litoral sul de São Paulo.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464469" y="2857500"/>
            <a:ext cx="6215063" cy="175736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4094" y="3052167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/>
          <p:nvPr/>
        </p:nvSpPr>
        <p:spPr>
          <a:xfrm>
            <a:off x="3876266" y="3012877"/>
            <a:ext cx="1623613" cy="273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Noto Sans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Próximos Passos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9496" y="3484364"/>
            <a:ext cx="19645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2873099" y="3454003"/>
            <a:ext cx="3651377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Noto Sans"/>
              <a:buNone/>
            </a:pPr>
            <a:r>
              <a:rPr b="0" i="0" lang="en-US" sz="1238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Reunião para apresentação detalhada do projeto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9365" y="3827264"/>
            <a:ext cx="117872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1"/>
          <p:cNvSpPr/>
          <p:nvPr/>
        </p:nvSpPr>
        <p:spPr>
          <a:xfrm>
            <a:off x="3714387" y="3796903"/>
            <a:ext cx="189022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Noto Sans"/>
              <a:buNone/>
            </a:pPr>
            <a:r>
              <a:rPr b="0" i="0" lang="en-US" sz="1238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Formalização da parceria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08889" y="4170164"/>
            <a:ext cx="137517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1"/>
          <p:cNvSpPr/>
          <p:nvPr/>
        </p:nvSpPr>
        <p:spPr>
          <a:xfrm>
            <a:off x="3003556" y="4139803"/>
            <a:ext cx="333155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Noto Sans"/>
              <a:buNone/>
            </a:pPr>
            <a:r>
              <a:rPr b="0" i="0" lang="en-US" sz="1238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Definição do cronograma de implementação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69512" y="4941689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3183824" y="4911328"/>
            <a:ext cx="299066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Noto Sans"/>
              <a:buNone/>
            </a:pPr>
            <a:r>
              <a:rPr b="0" i="0" lang="en-US" sz="1238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contato@projetotransformavidas.org.br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02022" y="5177433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/>
          <p:nvPr/>
        </p:nvSpPr>
        <p:spPr>
          <a:xfrm>
            <a:off x="4116335" y="5147072"/>
            <a:ext cx="112561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Noto Sans"/>
              <a:buNone/>
            </a:pPr>
            <a:r>
              <a:rPr b="0" i="0" lang="en-US" sz="1238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(13) 9999-9999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